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9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92" r:id="rId12"/>
    <p:sldId id="293" r:id="rId13"/>
    <p:sldId id="29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728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F2A15-6CF1-E2CF-24F9-70B749E9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4EC3D-3A98-0D6F-4662-84AE334E3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2DA5D-EDBF-1C37-C6DC-7BD9A432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C8797-65BB-F215-4628-5D731EC8F8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45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6928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5361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192024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Translation Quality Estimation</a:t>
            </a:r>
            <a:endParaRPr lang="en-US" sz="34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Era of Large Language Models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6118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a translation can be trusted and when a human must step in.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4736592"/>
            <a:ext cx="237744" cy="23774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252728" y="4736592"/>
            <a:ext cx="237744" cy="23774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636776" y="4736592"/>
            <a:ext cx="237744" cy="23774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468880" y="46451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Tharindu Ranasinghe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&amp; Communications · Lancaster University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Promoting Machine Translation &amp; GenAI Translation Literacy Professional Translation &amp; Interpreting Labour Market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EEA2-C1B4-47E9-414D-822D57D54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479FF49-9BC5-5173-3ABD-E8768025D335}"/>
              </a:ext>
            </a:extLst>
          </p:cNvPr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me</a:t>
            </a:r>
            <a:endParaRPr lang="en-US" sz="2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2FF7A73-AB28-1919-8FDE-CDFB7785204F}"/>
              </a:ext>
            </a:extLst>
          </p:cNvPr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11E0705-6E5D-A8B5-57B3-55D3F33046E8}"/>
              </a:ext>
            </a:extLst>
          </p:cNvPr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BED784E-2F3B-F6A2-FCE7-7586AD521E8B}"/>
              </a:ext>
            </a:extLst>
          </p:cNvPr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91A91C-D9BF-8290-107B-0BB968478464}"/>
              </a:ext>
            </a:extLst>
          </p:cNvPr>
          <p:cNvSpPr/>
          <p:nvPr/>
        </p:nvSpPr>
        <p:spPr>
          <a:xfrm>
            <a:off x="685800" y="20116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/>
              <a:t>Lecturer at Lancaster University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/>
              <a:t>My research area can be broadly classified as NLP for Social Good. </a:t>
            </a:r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/>
              <a:t>One of the topics I am active engaged is machine translation quality estimation (QE) </a:t>
            </a:r>
          </a:p>
        </p:txBody>
      </p:sp>
      <p:pic>
        <p:nvPicPr>
          <p:cNvPr id="1026" name="Picture 2" descr="No photo description available.">
            <a:extLst>
              <a:ext uri="{FF2B5EF4-FFF2-40B4-BE49-F238E27FC236}">
                <a16:creationId xmlns:a16="http://schemas.microsoft.com/office/drawing/2014/main" id="{556BF6FB-10C7-8110-F26E-27B52B144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082" y="2207623"/>
            <a:ext cx="4005943" cy="300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80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argument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28016" cy="1691640"/>
          </a:xfrm>
          <a:prstGeom prst="rect">
            <a:avLst/>
          </a:prstGeom>
          <a:solidFill>
            <a:srgbClr val="27C2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0149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 translation depends not only on building </a:t>
            </a:r>
            <a:r>
              <a:rPr lang="en-US" sz="2200" b="1" dirty="0">
                <a:solidFill>
                  <a:srgbClr val="8AE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translation systems</a:t>
            </a: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but on our ability to </a:t>
            </a:r>
            <a:r>
              <a:rPr lang="en-US" sz="2200" b="1" dirty="0">
                <a:solidFill>
                  <a:srgbClr val="8AE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estimate quality and flag risk</a:t>
            </a: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 the point of use, without a reference translation.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04672" y="3995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40690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MT evolved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448970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→ reasoning machines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70832" y="388620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35424" y="3995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85232" y="40690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≠ better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5232" y="448970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 of scale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388620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266176" y="39959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15984" y="40690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errors remain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015984" y="448970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is not fidelity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04672" y="55504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554480" y="56235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QE is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54480" y="604418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without a reference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70832" y="544068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535424" y="55504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285232" y="56235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QE evolved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85232" y="604418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→ LLM judges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5440680"/>
            <a:ext cx="34564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266176" y="55504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015984" y="56235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role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015984" y="6044184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&amp; literacy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1206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292608" cy="219456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machine translation evolved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decades from hand-written rules to reasoning machines.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paradigm shifts in seventy years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636776" y="2478024"/>
            <a:ext cx="8915400" cy="0"/>
          </a:xfrm>
          <a:prstGeom prst="line">
            <a:avLst/>
          </a:prstGeom>
          <a:noFill/>
          <a:ln w="254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353312" y="2194560"/>
            <a:ext cx="566928" cy="566928"/>
          </a:xfrm>
          <a:prstGeom prst="ellipse">
            <a:avLst/>
          </a:prstGeom>
          <a:solidFill>
            <a:srgbClr val="159A92"/>
          </a:solidFill>
          <a:ln w="50800">
            <a:solidFill>
              <a:srgbClr val="F5F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81328" y="2322576"/>
            <a:ext cx="310896" cy="310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82162" y="2194560"/>
            <a:ext cx="566928" cy="566928"/>
          </a:xfrm>
          <a:prstGeom prst="ellipse">
            <a:avLst/>
          </a:prstGeom>
          <a:solidFill>
            <a:srgbClr val="159A92"/>
          </a:solidFill>
          <a:ln w="50800">
            <a:solidFill>
              <a:srgbClr val="F5F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10178" y="2322576"/>
            <a:ext cx="310896" cy="3108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11012" y="2194560"/>
            <a:ext cx="566928" cy="566928"/>
          </a:xfrm>
          <a:prstGeom prst="ellipse">
            <a:avLst/>
          </a:prstGeom>
          <a:solidFill>
            <a:srgbClr val="159A92"/>
          </a:solidFill>
          <a:ln w="50800">
            <a:solidFill>
              <a:srgbClr val="F5F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39028" y="2322576"/>
            <a:ext cx="310896" cy="3108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039862" y="2194560"/>
            <a:ext cx="566928" cy="566928"/>
          </a:xfrm>
          <a:prstGeom prst="ellipse">
            <a:avLst/>
          </a:prstGeom>
          <a:solidFill>
            <a:srgbClr val="159A92"/>
          </a:solidFill>
          <a:ln w="50800">
            <a:solidFill>
              <a:srgbClr val="F5F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67878" y="2322576"/>
            <a:ext cx="310896" cy="31089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0268712" y="2194560"/>
            <a:ext cx="566928" cy="566928"/>
          </a:xfrm>
          <a:prstGeom prst="ellipse">
            <a:avLst/>
          </a:prstGeom>
          <a:solidFill>
            <a:srgbClr val="159A92"/>
          </a:solidFill>
          <a:ln w="50800">
            <a:solidFill>
              <a:srgbClr val="F5F9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396728" y="2322576"/>
            <a:ext cx="310896" cy="310896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2184" y="2322576"/>
            <a:ext cx="329184" cy="32918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40080" y="310896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2"/>
          <p:cNvSpPr/>
          <p:nvPr/>
        </p:nvSpPr>
        <p:spPr>
          <a:xfrm>
            <a:off x="640080" y="327355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1950s–80s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40080" y="35844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749808" y="41148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grammar rules</a:t>
            </a:r>
            <a:endParaRPr lang="en-US" sz="12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1034" y="2322576"/>
            <a:ext cx="329184" cy="329184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2868930" y="310896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16"/>
          <p:cNvSpPr/>
          <p:nvPr/>
        </p:nvSpPr>
        <p:spPr>
          <a:xfrm>
            <a:off x="2868930" y="327355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1990s–2010s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2868930" y="35844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2978658" y="41148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corpora</a:t>
            </a:r>
            <a:endParaRPr lang="en-US" sz="12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9884" y="2322576"/>
            <a:ext cx="329184" cy="329184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097780" y="310896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0"/>
          <p:cNvSpPr/>
          <p:nvPr/>
        </p:nvSpPr>
        <p:spPr>
          <a:xfrm>
            <a:off x="5097780" y="327355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2014–16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5097780" y="35844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</a:t>
            </a:r>
            <a:endParaRPr lang="en-US" sz="1800" dirty="0"/>
          </a:p>
        </p:txBody>
      </p:sp>
      <p:sp>
        <p:nvSpPr>
          <p:cNvPr id="32" name="Text 22"/>
          <p:cNvSpPr/>
          <p:nvPr/>
        </p:nvSpPr>
        <p:spPr>
          <a:xfrm>
            <a:off x="5207508" y="41148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</a:t>
            </a:r>
            <a:endParaRPr lang="en-US" sz="125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8734" y="2322576"/>
            <a:ext cx="329184" cy="329184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7326630" y="310896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5" name="Text 24"/>
          <p:cNvSpPr/>
          <p:nvPr/>
        </p:nvSpPr>
        <p:spPr>
          <a:xfrm>
            <a:off x="7326630" y="327355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7326630" y="35844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</a:t>
            </a:r>
            <a:endParaRPr lang="en-US" sz="1800" dirty="0"/>
          </a:p>
        </p:txBody>
      </p:sp>
      <p:sp>
        <p:nvSpPr>
          <p:cNvPr id="37" name="Text 26"/>
          <p:cNvSpPr/>
          <p:nvPr/>
        </p:nvSpPr>
        <p:spPr>
          <a:xfrm>
            <a:off x="7436358" y="41148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Self-attention,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</a:t>
            </a:r>
            <a:endParaRPr lang="en-US" sz="125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87584" y="2322576"/>
            <a:ext cx="329184" cy="329184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9555480" y="310896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0" name="Text 28"/>
          <p:cNvSpPr/>
          <p:nvPr/>
        </p:nvSpPr>
        <p:spPr>
          <a:xfrm>
            <a:off x="9555480" y="327355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9555480" y="358444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</a:t>
            </a:r>
            <a:endParaRPr lang="en-US" sz="1800" dirty="0"/>
          </a:p>
        </p:txBody>
      </p:sp>
      <p:sp>
        <p:nvSpPr>
          <p:cNvPr id="42" name="Text 30"/>
          <p:cNvSpPr/>
          <p:nvPr/>
        </p:nvSpPr>
        <p:spPr>
          <a:xfrm>
            <a:off x="9665208" y="411480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side-effect</a:t>
            </a:r>
            <a:endParaRPr lang="en-US" sz="1250" dirty="0"/>
          </a:p>
        </p:txBody>
      </p:sp>
      <p:sp>
        <p:nvSpPr>
          <p:cNvPr id="43" name="Text 31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shift made translation more fluent and more autonomous.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1 · 1950S–1980S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MT: translating by dictionary and grammar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bilingual dictionaries and linguistic rules, written by experts.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Georgetown–IBM experiment (1954) translated 60+ Russian sentences and sparked decades of optimism.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and controllable you can see exactly why a rule fired.</a:t>
            </a:r>
            <a:endParaRPr lang="en-US" sz="165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brittle: rules multiply, conflict, and never cover real language.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98080" y="2011680"/>
            <a:ext cx="4050792" cy="3931920"/>
          </a:xfrm>
          <a:prstGeom prst="roundRect">
            <a:avLst>
              <a:gd name="adj" fmla="val 1860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42316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2668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“If-then” linguistics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2668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grammatical exception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another rule.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4709160"/>
            <a:ext cx="3136392" cy="0"/>
          </a:xfrm>
          <a:prstGeom prst="line">
            <a:avLst/>
          </a:prstGeom>
          <a:noFill/>
          <a:ln w="12700">
            <a:solidFill>
              <a:srgbClr val="1645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726680" y="4846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FA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 </a:t>
            </a:r>
            <a:r>
              <a:rPr lang="en-US" sz="13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
</a:t>
            </a:r>
            <a:endParaRPr lang="en-US" sz="13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 </a:t>
            </a:r>
            <a:r>
              <a:rPr lang="en-US" sz="13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2 · 1990S–2010S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MT: learning translation from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6400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alignment models, then phrase-based SMT (e.g. Moses) translation as probability.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“which phrase usually maps to which” from millions of aligned sentence pairs.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the first decade of Google Translate (launched 2006).</a:t>
            </a:r>
            <a:endParaRPr lang="en-US" sz="165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any language with a corpus but output is locally stitched and often disfluent.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98080" y="2148840"/>
            <a:ext cx="405079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198864" y="2514600"/>
            <a:ext cx="640080" cy="64008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1686" y="2687422"/>
            <a:ext cx="294437" cy="294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0" y="320040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corpora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3611880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98864" y="4023360"/>
            <a:ext cx="640080" cy="640080"/>
          </a:xfrm>
          <a:prstGeom prst="ellipse">
            <a:avLst/>
          </a:prstGeom>
          <a:solidFill>
            <a:srgbClr val="FDEFD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1686" y="419618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98080" y="470916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model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50749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0" y="5440680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Most-probable translation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3 · 2014–2016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MT: one model, end to end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“sequence-to-sequence” networks (2014) read a whole sentence, then generate the translation.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(2015) lets the decoder look back at the most relevant source words a leap in fluency.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GNMT (2016) narrowed the gap to human translation on high-resource pairs.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650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soared but so did confident, hard-to-spot errors.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52360" y="2286000"/>
            <a:ext cx="4096512" cy="3200400"/>
          </a:xfrm>
          <a:prstGeom prst="roundRect">
            <a:avLst>
              <a:gd name="adj" fmla="val 2286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017520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29600" y="3017520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686800" y="3017520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9692640" y="3017520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149840" y="3017520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607040" y="3017520"/>
            <a:ext cx="365760" cy="502920"/>
          </a:xfrm>
          <a:prstGeom prst="roundRect">
            <a:avLst>
              <a:gd name="adj" fmla="val 12500"/>
            </a:avLst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3127248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26680" y="4114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→ vector → fluent target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26680" y="4572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jumps; transparency drops.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4 · 2017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“Attention is all you need”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replaced recurrence. Models could now be trained in parallel and scaled almost without limit. This single architecture underpins everything that followed.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3511296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51560" y="3429000"/>
            <a:ext cx="777240" cy="77724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621024"/>
            <a:ext cx="393192" cy="3931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434340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51560" y="48006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attends to every other — long-range context, captured directly.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79976" y="3063240"/>
            <a:ext cx="3511296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745736" y="3429000"/>
            <a:ext cx="777240" cy="77724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21024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45736" y="434340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Parallelism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45736" y="48006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left-to-right bottleneck; train on far more data, far faster.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074152" y="3063240"/>
            <a:ext cx="3511296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8439912" y="3429000"/>
            <a:ext cx="777240" cy="77724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3621024"/>
            <a:ext cx="393192" cy="3931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9912" y="4343400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39912" y="480060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design works at 65M or 65B parameters — just add scale.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 of the whole story: from here, “more data + more parameters” became the dominant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 5 · 2020S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 era: translation as a side-effect of scale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translate without being built for translation.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default strong zero-shot translation across hundreds of languages.</a:t>
            </a:r>
            <a:endParaRPr lang="en-US" sz="1650" dirty="0"/>
          </a:p>
          <a:p>
            <a:pPr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high-resource pairs, output is often indistinguishable from human translation.</a:t>
            </a:r>
            <a:endParaRPr lang="en-US" sz="165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many tasks: translate, summarise, post-edit, explain in a single prompt.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52360" y="2057400"/>
            <a:ext cx="4096512" cy="3886200"/>
          </a:xfrm>
          <a:prstGeom prst="roundRect">
            <a:avLst>
              <a:gd name="adj" fmla="val 1882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2468880"/>
            <a:ext cx="868680" cy="868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“Good enough”, fast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80960" y="3950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is now cheap and abundant.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72400" y="4617720"/>
            <a:ext cx="3456432" cy="0"/>
          </a:xfrm>
          <a:prstGeom prst="line">
            <a:avLst/>
          </a:prstGeom>
          <a:noFill/>
          <a:ln w="12700">
            <a:solidFill>
              <a:srgbClr val="1645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680960" y="4754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hard question is no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“can it translate?”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80960" y="5440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is “can I trust this one?”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0"/>
            <a:ext cx="12185778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792CCAA-9A0E-327B-EC11-012D36B7E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7"/>
          <a:stretch>
            <a:fillRect/>
          </a:stretch>
        </p:blipFill>
        <p:spPr bwMode="auto">
          <a:xfrm>
            <a:off x="20" y="1282"/>
            <a:ext cx="12188805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73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E347806-8951-2E5E-AF93-6E085AB3C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295" y="425057"/>
            <a:ext cx="9010650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88B1DA99-F2BD-F9AA-15EA-6586850D6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443" y="3329622"/>
            <a:ext cx="5400675" cy="335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6016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>
            <a:extLst>
              <a:ext uri="{FF2B5EF4-FFF2-40B4-BE49-F238E27FC236}">
                <a16:creationId xmlns:a16="http://schemas.microsoft.com/office/drawing/2014/main" id="{63C79A4A-8043-C9E9-A8B5-2419C9731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61" y="381261"/>
            <a:ext cx="564832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>
            <a:extLst>
              <a:ext uri="{FF2B5EF4-FFF2-40B4-BE49-F238E27FC236}">
                <a16:creationId xmlns:a16="http://schemas.microsoft.com/office/drawing/2014/main" id="{60169D52-6D63-D191-FA11-CF4F1AA50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61" y="2661883"/>
            <a:ext cx="654367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>
            <a:extLst>
              <a:ext uri="{FF2B5EF4-FFF2-40B4-BE49-F238E27FC236}">
                <a16:creationId xmlns:a16="http://schemas.microsoft.com/office/drawing/2014/main" id="{BCBBE61C-64A3-4E9C-6F27-4715776EB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10" y="4963496"/>
            <a:ext cx="6886575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61DD18BF-0F2D-5C86-1A99-70AA3C882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685" y="2661883"/>
            <a:ext cx="5044104" cy="105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Picture 13">
            <a:extLst>
              <a:ext uri="{FF2B5EF4-FFF2-40B4-BE49-F238E27FC236}">
                <a16:creationId xmlns:a16="http://schemas.microsoft.com/office/drawing/2014/main" id="{CF8362EC-98D1-E1C3-18FA-C695095F1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886" y="381261"/>
            <a:ext cx="6200775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97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1206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292608" cy="219456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Bigger 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is it better?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decade of explosive scaling, and what it did (and didn’t) fix.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CURVE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 exploded — roughly 30,000× in seven years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94360" y="5806440"/>
            <a:ext cx="10607040" cy="0"/>
          </a:xfrm>
          <a:prstGeom prst="line">
            <a:avLst/>
          </a:prstGeom>
          <a:noFill/>
          <a:ln w="1905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5283926"/>
            <a:ext cx="1078992" cy="522514"/>
          </a:xfrm>
          <a:prstGeom prst="rect">
            <a:avLst/>
          </a:prstGeom>
          <a:solidFill>
            <a:srgbClr val="159A92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48640" y="489987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587959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6172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06040" y="4813663"/>
            <a:ext cx="1078992" cy="992777"/>
          </a:xfrm>
          <a:prstGeom prst="rect">
            <a:avLst/>
          </a:prstGeom>
          <a:solidFill>
            <a:srgbClr val="159A92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514600" y="4429615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587959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77440" y="6172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4389120"/>
            <a:ext cx="1078992" cy="1417320"/>
          </a:xfrm>
          <a:prstGeom prst="rect">
            <a:avLst/>
          </a:prstGeom>
          <a:solidFill>
            <a:srgbClr val="159A92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480560" y="400507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587959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6172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043646"/>
            <a:ext cx="1078992" cy="2762794"/>
          </a:xfrm>
          <a:prstGeom prst="rect">
            <a:avLst/>
          </a:prstGeom>
          <a:solidFill>
            <a:srgbClr val="27C2B6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46520" y="265959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587959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09360" y="6172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2723606"/>
            <a:ext cx="1078992" cy="3082834"/>
          </a:xfrm>
          <a:prstGeom prst="rect">
            <a:avLst/>
          </a:prstGeom>
          <a:solidFill>
            <a:srgbClr val="27C2B6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412480" y="233955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540B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75320" y="587959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75320" y="6172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469880" y="2377440"/>
            <a:ext cx="1078992" cy="3429000"/>
          </a:xfrm>
          <a:prstGeom prst="rect">
            <a:avLst/>
          </a:prstGeom>
          <a:solidFill>
            <a:srgbClr val="E0912E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378440" y="199339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~1.8T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41280" y="587959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(MoE)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241280" y="6172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parameter counts; the height axis is logarithmic (orders of magnitude). Frontier sizes are estimates.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scaling actually bought us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18872" cy="187452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51560" y="2350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3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35000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31363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in a single model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34747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NLLB-200 put 200 languages — many low-resource — in one system.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0488" y="205740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190488" y="2057400"/>
            <a:ext cx="118872" cy="187452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601968" y="2350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0-shot</a:t>
            </a:r>
            <a:endParaRPr lang="en-US" sz="36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2350008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01968" y="313639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translation, no training pair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601968" y="347472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translate pairs they were never explicitly trained on.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" y="416052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640080" y="4160520"/>
            <a:ext cx="118872" cy="187452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1051560" y="44531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~Human</a:t>
            </a:r>
            <a:endParaRPr lang="en-US" sz="3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4064" y="4453128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523951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on rich pairs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051560" y="5577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high-resource languages, raw output is often publication-smooth.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90488" y="4160520"/>
            <a:ext cx="5358384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6190488" y="4160520"/>
            <a:ext cx="118872" cy="187452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6601968" y="44531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9A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model</a:t>
            </a:r>
            <a:endParaRPr lang="en-US" sz="36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4472" y="445312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01968" y="5239512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tasks at once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601968" y="5577840"/>
            <a:ext cx="4535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summarise, simplify and post-edit from a single prompt.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1206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292608" cy="219456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 the errors remain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 is not the same as fidelity and scale does not erase risk.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DANGER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 does not mean faithful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E2F2E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2" y="2458822"/>
            <a:ext cx="294437" cy="29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perfectly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60120" y="31089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Grammatical. Natural. Confident. Indistinguishable, on the surface, from a good human translation.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3434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makes modern MT useful and exactly what hides its mistakes.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99632" y="1965960"/>
            <a:ext cx="5349240" cy="3886200"/>
          </a:xfrm>
          <a:prstGeom prst="roundRect">
            <a:avLst>
              <a:gd name="adj" fmla="val 1882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6519672" y="2286000"/>
            <a:ext cx="640080" cy="640080"/>
          </a:xfrm>
          <a:prstGeom prst="ellipse">
            <a:avLst/>
          </a:prstGeom>
          <a:solidFill>
            <a:srgbClr val="3A242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2458822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42632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be wrong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519672" y="31089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mistranslated dose, a dropped negation, an invented clause wrapped in flawless prose.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519672" y="4434840"/>
            <a:ext cx="91440" cy="1097280"/>
          </a:xfrm>
          <a:prstGeom prst="rect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6766560" y="4434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AE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fluent the output, the harder the error is to catch.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shapes MT errors take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 the Multidimensional Quality Metrics (MQM) lens, the failures cluster into recognisable types: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78408" y="2715768"/>
            <a:ext cx="603504" cy="603504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87121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28216" y="275234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Mistranslation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978408" y="33832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is changed the most common and the most consequential.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79976" y="242316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672584" y="2715768"/>
            <a:ext cx="603504" cy="603504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87121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22392" y="275234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Omission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672584" y="33832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present in the source silently disappears.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74152" y="242316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8366760" y="2715768"/>
            <a:ext cx="603504" cy="603504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87121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16568" y="275234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366760" y="338328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appears that was never in the source.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976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978408" y="4590288"/>
            <a:ext cx="603504" cy="603504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" y="474573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28216" y="462686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Terminology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978408" y="52578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domain term critical in legal, medical, technical text.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2976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4672584" y="4590288"/>
            <a:ext cx="603504" cy="603504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74573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22392" y="462686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 &amp; entities</a:t>
            </a:r>
            <a:endParaRPr lang="en-US" sz="1650" dirty="0"/>
          </a:p>
        </p:txBody>
      </p:sp>
      <p:sp>
        <p:nvSpPr>
          <p:cNvPr id="32" name="Text 25"/>
          <p:cNvSpPr/>
          <p:nvPr/>
        </p:nvSpPr>
        <p:spPr>
          <a:xfrm>
            <a:off x="4672584" y="52578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dosages, names and figures flipped or dropped.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074152" y="429768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27"/>
          <p:cNvSpPr/>
          <p:nvPr/>
        </p:nvSpPr>
        <p:spPr>
          <a:xfrm>
            <a:off x="8366760" y="4590288"/>
            <a:ext cx="603504" cy="603504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745736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16568" y="462686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</a:t>
            </a:r>
            <a:endParaRPr lang="en-US" sz="1650" dirty="0"/>
          </a:p>
        </p:txBody>
      </p:sp>
      <p:sp>
        <p:nvSpPr>
          <p:cNvPr id="37" name="Text 29"/>
          <p:cNvSpPr/>
          <p:nvPr/>
        </p:nvSpPr>
        <p:spPr>
          <a:xfrm>
            <a:off x="8366760" y="52578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other social biases reproduced or amplified.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Hallucination: the confident, fluent fabrication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detached from the source</a:t>
            </a:r>
            <a:r>
              <a:rPr lang="en-US" sz="17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plausible, fluent, and simply not what was said.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6766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medication should not be taken with alcohol.”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3794760"/>
            <a:ext cx="6263640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TRANSLATION (HALLUCINATED)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206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the medication together with a little alcohol.”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983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Grammatically perfect. Semantically inverted. Potentially dangerous.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0960" y="2514600"/>
            <a:ext cx="3867912" cy="3246120"/>
          </a:xfrm>
          <a:prstGeom prst="roundRect">
            <a:avLst>
              <a:gd name="adj" fmla="val 2254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880360"/>
            <a:ext cx="868680" cy="868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909560" y="388620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is the hardest failure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909560" y="4297680"/>
            <a:ext cx="3410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perfectly nothing signals the error.
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acute in low-resource pairs and out-of-domain input.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MATTERS MOST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single error carries consequences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511296" cy="3611880"/>
          </a:xfrm>
          <a:prstGeom prst="roundRect">
            <a:avLst>
              <a:gd name="adj" fmla="val 2083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3511296" cy="146304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938528" y="2651760"/>
            <a:ext cx="1005840" cy="1005840"/>
          </a:xfrm>
          <a:prstGeom prst="ellipse">
            <a:avLst/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288036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3840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97280" y="438912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mistranslated clause shifts liability, voids a contract, or changes a verdict.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79976" y="2148840"/>
            <a:ext cx="3511296" cy="3611880"/>
          </a:xfrm>
          <a:prstGeom prst="roundRect">
            <a:avLst>
              <a:gd name="adj" fmla="val 2083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379976" y="2148840"/>
            <a:ext cx="3511296" cy="146304"/>
          </a:xfrm>
          <a:prstGeom prst="rect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632704" y="2651760"/>
            <a:ext cx="1005840" cy="1005840"/>
          </a:xfrm>
          <a:prstGeom prst="ellipse">
            <a:avLst/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288036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54296" y="3840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4791456" y="438912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flipped dosage or missed contraindication can directly harm a patient.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74152" y="2148840"/>
            <a:ext cx="3511296" cy="3611880"/>
          </a:xfrm>
          <a:prstGeom prst="roundRect">
            <a:avLst>
              <a:gd name="adj" fmla="val 2083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8074152" y="2148840"/>
            <a:ext cx="3511296" cy="146304"/>
          </a:xfrm>
          <a:prstGeom prst="rect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9326880" y="2651760"/>
            <a:ext cx="1005840" cy="1005840"/>
          </a:xfrm>
          <a:prstGeom prst="ellipse">
            <a:avLst/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88036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48472" y="38404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</a:rPr>
              <a:t>Government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8485632" y="4389120"/>
            <a:ext cx="2688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word in a statement can decide residency, rights, or a case.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TRUTH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makes errors rarer — not predictable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 lower the error rate. They do not tell you which sentence is the dangerous one.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395728"/>
            <a:ext cx="4142232" cy="3520440"/>
          </a:xfrm>
          <a:prstGeom prst="roundRect">
            <a:avLst>
              <a:gd name="adj" fmla="val 2078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15768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349300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is not the error rate.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005840" y="427024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uncertainty about where the errors are hiding and which ones matter.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05840" y="52760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and better is not always the answer.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C043B11-F001-C91B-ACB5-95F5CE389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864" y="2334236"/>
            <a:ext cx="6754168" cy="38105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1206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292608" cy="219456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Estimation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ask, right now and without a reference: can I trust this?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17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2560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MATTERS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“Can I trust this translation?”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868680" y="4526280"/>
            <a:ext cx="164592" cy="164592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18872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point of use.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64592" cy="164592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188720" y="4937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human reference.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5532120"/>
            <a:ext cx="164592" cy="164592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88720" y="5440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damage is done.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Estimation, defined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28016" cy="1234440"/>
          </a:xfrm>
          <a:prstGeom prst="rect">
            <a:avLst/>
          </a:prstGeom>
          <a:solidFill>
            <a:srgbClr val="27C2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QE predicts the quality of a translation </a:t>
            </a:r>
            <a:r>
              <a:rPr lang="en-US" sz="2100" b="1" dirty="0">
                <a:solidFill>
                  <a:srgbClr val="8AE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access to a reference translation</a:t>
            </a: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using only the source and the machine output.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output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452628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343400" y="370332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159A92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9776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43400" y="4617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QE model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34340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 required</a:t>
            </a:r>
            <a:endParaRPr lang="en-US" sz="12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52628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275320" y="3520440"/>
            <a:ext cx="3273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8458200" y="3712464"/>
            <a:ext cx="182880" cy="182880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/>
          <p:nvPr/>
        </p:nvSpPr>
        <p:spPr>
          <a:xfrm>
            <a:off x="8778240" y="3611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275320" y="4233672"/>
            <a:ext cx="3273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8458200" y="4425696"/>
            <a:ext cx="182880" cy="182880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/>
          <p:nvPr/>
        </p:nvSpPr>
        <p:spPr>
          <a:xfrm>
            <a:off x="8778240" y="4325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275320" y="4946904"/>
            <a:ext cx="3273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8458200" y="5138928"/>
            <a:ext cx="182880" cy="182880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/>
          <p:nvPr/>
        </p:nvSpPr>
        <p:spPr>
          <a:xfrm>
            <a:off x="8778240" y="5038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spans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Run-time. At the point of use. On every new sentence.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CONFUSION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Estimation is not MT evaluation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5349240" cy="146304"/>
          </a:xfrm>
          <a:prstGeom prst="rect">
            <a:avLst/>
          </a:prstGeom>
          <a:solidFill>
            <a:srgbClr val="5E7A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MT Evaluation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9718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reference translation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3611880"/>
            <a:ext cx="4617720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6850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output against a gold standard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005840" y="4325112"/>
            <a:ext cx="4617720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05840" y="43982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31720" y="43982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on fixed test sets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05840" y="5038344"/>
            <a:ext cx="4617720" cy="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5840" y="511149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51114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good is this system overall?”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9632" y="19659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199632" y="1965960"/>
            <a:ext cx="5349240" cy="146304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65392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Estimation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65392" y="2971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91272" y="29718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source + the MT output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565392" y="3611880"/>
            <a:ext cx="4617720" cy="0"/>
          </a:xfrm>
          <a:prstGeom prst="line">
            <a:avLst/>
          </a:prstGeom>
          <a:noFill/>
          <a:ln w="12700">
            <a:solidFill>
              <a:srgbClr val="1645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565392" y="368503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91272" y="36850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translation, in isolation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565392" y="4325112"/>
            <a:ext cx="4617720" cy="0"/>
          </a:xfrm>
          <a:prstGeom prst="line">
            <a:avLst/>
          </a:prstGeom>
          <a:noFill/>
          <a:ln w="12700">
            <a:solidFill>
              <a:srgbClr val="1645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6565392" y="439826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91272" y="43982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run-time, on live content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565392" y="5038344"/>
            <a:ext cx="4617720" cy="0"/>
          </a:xfrm>
          <a:prstGeom prst="line">
            <a:avLst/>
          </a:prstGeom>
          <a:noFill/>
          <a:ln w="12700">
            <a:solidFill>
              <a:srgbClr val="1645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565392" y="511149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91272" y="51114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trust THIS translation, now?”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DEFINING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reference is exactly what you don’t have when you need it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REFERENCE-BASED  ·  research &amp; benchmarking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8630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97280" y="27249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7280" y="27249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7249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91840" y="27249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27249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0" y="27249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reference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907792"/>
            <a:ext cx="411480" cy="4114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412480" y="27249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8412480" y="27249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0" y="3474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4069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REFERENCE-FREE (QE)  ·  deployment &amp; decision-making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5800" y="4434840"/>
            <a:ext cx="10863072" cy="1417320"/>
          </a:xfrm>
          <a:prstGeom prst="roundRect">
            <a:avLst>
              <a:gd name="adj" fmla="val 5161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1097280" y="47823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1097280" y="47823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91840" y="47823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3291840" y="47823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output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0" y="47823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03942"/>
          </a:solidFill>
          <a:ln w="15875">
            <a:solidFill>
              <a:srgbClr val="DB5A4B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486400" y="47823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reference</a:t>
            </a:r>
            <a:endParaRPr lang="en-US" sz="13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965192"/>
            <a:ext cx="411480" cy="41148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275320" y="4782312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8275320" y="478231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/ flag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85800" y="608076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use a deadline, a patient, a court there is no gold translation to compare against. QE is built for precisely that moment.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FINE-GRAINED?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QE at three levels of granularity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194560" cy="132588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8201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01168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 / span level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108960" y="22128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words are wrong? Highlight error spans.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229600" y="2240280"/>
            <a:ext cx="0" cy="86868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458200" y="22128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post-editing fix the flagged spans.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40080" y="3520440"/>
            <a:ext cx="2194560" cy="1325880"/>
          </a:xfrm>
          <a:prstGeom prst="rect">
            <a:avLst/>
          </a:prstGeom>
          <a:solidFill>
            <a:srgbClr val="27C2B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90772"/>
            <a:ext cx="585216" cy="58521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352044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 level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108960" y="372160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quality or risk score per segment.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8229600" y="3749040"/>
            <a:ext cx="0" cy="86868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8458200" y="372160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routing send risky segments to a human.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40080" y="502920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640080" y="5029200"/>
            <a:ext cx="2194560" cy="1325880"/>
          </a:xfrm>
          <a:prstGeom prst="rect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399532"/>
            <a:ext cx="585216" cy="58521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502920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level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108960" y="523036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reliability across the whole text.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8229600" y="5257800"/>
            <a:ext cx="0" cy="868680"/>
          </a:xfrm>
          <a:prstGeom prst="line">
            <a:avLst/>
          </a:prstGeom>
          <a:noFill/>
          <a:ln w="12700">
            <a:solidFill>
              <a:srgbClr val="DBE7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8458200" y="52303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the document needs human review at all.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1206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292608" cy="219456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QE has evolved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hand-crafted features to large language models as judges.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1 · 2009–2015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engineering: QE by hand-crafted signals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r>
              <a:rPr lang="en-US" sz="1600" b="1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ratios, language-model scores, word alignments then feed a regressor (often an SVM).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6492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QuEst and QuEst++ defined the early pipeline.</a:t>
            </a:r>
            <a:endParaRPr lang="en-US" sz="1550" dirty="0"/>
          </a:p>
          <a:p>
            <a:pPr marL="228600" indent="-2286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WMT Quality Estimation shared task begins in 2012 still the field’s benchmark today.</a:t>
            </a:r>
            <a:endParaRPr lang="en-US" sz="1550" dirty="0"/>
          </a:p>
          <a:p>
            <a:pPr marL="228600" indent="-2286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interpretable, lightweight.</a:t>
            </a:r>
            <a:endParaRPr lang="en-US" sz="1550" dirty="0"/>
          </a:p>
          <a:p>
            <a:pPr marL="228600" indent="-228600">
              <a:lnSpc>
                <a:spcPct val="106000"/>
              </a:lnSpc>
              <a:buSzPct val="100000"/>
              <a:buChar char="•"/>
            </a:pPr>
            <a:r>
              <a:rPr lang="en-US" sz="15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shallow, language-specific, and labour-intensive to design.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52360" y="2331720"/>
            <a:ext cx="4096512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772400" y="26517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ratio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31089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score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72400" y="35661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724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40233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dozens more</a:t>
            </a:r>
            <a:endParaRPr lang="en-US" sz="11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383280"/>
            <a:ext cx="384048" cy="38404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0058400" y="3063240"/>
            <a:ext cx="1234440" cy="1005840"/>
          </a:xfrm>
          <a:prstGeom prst="roundRect">
            <a:avLst>
              <a:gd name="adj" fmla="val 5455"/>
            </a:avLst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005840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features → score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2 · 2017–2019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QE: learn the representation, not the features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predictor–estimator architecture</a:t>
            </a: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(Kim et al.) and toolkits like deepQuest let the model learn quality signals directly from data.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 encoders replace hand-crafted features.</a:t>
            </a:r>
            <a:endParaRPr lang="en-US" sz="1600" dirty="0"/>
          </a:p>
          <a:p>
            <a:pPr marL="228600" indent="-228600">
              <a:lnSpc>
                <a:spcPct val="106000"/>
              </a:lnSpc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accuracy gains over feature-based QE.</a:t>
            </a:r>
            <a:endParaRPr lang="en-US" sz="1600" dirty="0"/>
          </a:p>
          <a:p>
            <a:pPr marL="228600" indent="-228600">
              <a:lnSpc>
                <a:spcPct val="106000"/>
              </a:lnSpc>
              <a:buSzPct val="100000"/>
              <a:buChar char="•"/>
            </a:pPr>
            <a:r>
              <a:rPr lang="en-US" sz="1600" dirty="0">
                <a:solidFill>
                  <a:srgbClr val="DB5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data-hungry and still trained one language pair at a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52360" y="2194560"/>
            <a:ext cx="4096512" cy="3611880"/>
          </a:xfrm>
          <a:prstGeom prst="roundRect">
            <a:avLst>
              <a:gd name="adj" fmla="val 2025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2560320"/>
            <a:ext cx="868680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680960" y="35204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Representations,</a:t>
            </a:r>
            <a:endParaRPr lang="en-US" sz="19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rules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680960" y="44348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discovers what “looks risky” — but needs labelled data for every language it must judge.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623B8C-3C6D-DFED-39BB-2CD707715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272" y="4214382"/>
            <a:ext cx="5149107" cy="222299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3 · 2020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TransQuest: cross-lingual transformers for QE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59A92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756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288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multilingual transformers (XLM-R) so quality can be judged across many languages at once.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60120" y="329184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architectures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60120" y="397764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MonoTransQuest (joint encoding) and SiameseTransQuest (paired encoders) for sentence-level QE.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34256" y="301752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654296" y="329184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Cross-lingual transfer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54296" y="397764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one pair, transfer to others — strong results even with little or no in-language data.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028432" y="3017520"/>
            <a:ext cx="3511296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8348472" y="329184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Low-resource reach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348472" y="3977640"/>
            <a:ext cx="28712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usable QE to languages that never had enough labelled data of their own.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440680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FDEF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914400" y="54406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Open-source framework and a winning system at the WMT 2020 QE shared task</a:t>
            </a:r>
            <a:r>
              <a:rPr lang="en-US" sz="14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still a widely used QE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3+ · 2020–2022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Pretrained, learned metrics: COMET &amp; CometKiwi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6446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</a:t>
            </a:r>
            <a:r>
              <a:rPr lang="en-US" sz="16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(2020) trains a quality model on top of a pretrained multilingual encoder, learning directly from human judgments (Direct Assessment, MQM).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6446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CometKiwi</a:t>
            </a:r>
            <a:r>
              <a:rPr lang="en-US" sz="16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reference-free (QE) variant —a standard WMT baseline.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6446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quality from people, not hand-built features.</a:t>
            </a:r>
            <a:endParaRPr lang="en-US" sz="15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serves many language pairs.</a:t>
            </a:r>
            <a:endParaRPr lang="en-US" sz="15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500" dirty="0">
                <a:solidFill>
                  <a:srgbClr val="E0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single number accurate, but not yet explainable.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2148840"/>
            <a:ext cx="4096512" cy="3703320"/>
          </a:xfrm>
          <a:prstGeom prst="roundRect">
            <a:avLst>
              <a:gd name="adj" fmla="val 1975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2560320"/>
            <a:ext cx="868680" cy="7772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80960" y="3474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judgments</a:t>
            </a:r>
            <a:endParaRPr lang="en-US" sz="1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17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QE model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80960" y="4617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predicted from the source and translation alone calibrated against real annotators.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TRANSPARENCY · 2024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xCOMET: from a score to an explanation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xCOMET unifies a sentence-level quality score with fine-grained error-span detection and severity</a:t>
            </a: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MQM-style. Not just “how good?” but “what is wrong, and how serious?”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6720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UNDER 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is valid until </a:t>
            </a:r>
            <a:r>
              <a:rPr lang="en-US" sz="1700" b="1" dirty="0">
                <a:solidFill>
                  <a:srgbClr val="FFFFFF"/>
                </a:solidFill>
                <a:highlight>
                  <a:srgbClr val="DB5A4B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March 2025</a:t>
            </a:r>
            <a:r>
              <a:rPr lang="en-US" sz="170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may be </a:t>
            </a:r>
            <a:r>
              <a:rPr lang="en-US" sz="1700" dirty="0">
                <a:solidFill>
                  <a:srgbClr val="0A2A33"/>
                </a:solidFill>
                <a:highlight>
                  <a:srgbClr val="E0912E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renewed</a:t>
            </a:r>
            <a:r>
              <a:rPr lang="en-US" sz="1700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either party.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05840" y="4663440"/>
            <a:ext cx="164592" cy="164592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— wrong date (mistranslation)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05840" y="5074920"/>
            <a:ext cx="164592" cy="164592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28016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— terminology could be tighter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54406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score: 0.46  ·  flagged for 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35240" y="2926080"/>
            <a:ext cx="3913632" cy="2834640"/>
          </a:xfrm>
          <a:prstGeom prst="roundRect">
            <a:avLst>
              <a:gd name="adj" fmla="val 2581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3246120"/>
            <a:ext cx="713232" cy="7132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86384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63840" y="4434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5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tells you to slow down. An error span tells you exactly where to look the difference between a warning and a guide.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4 · 2023–TODAY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as judges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A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 LLM to assess a translation with no reference</a:t>
            </a:r>
            <a:r>
              <a:rPr lang="en-US" sz="165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GEMBA, GEMBA-MQM and AutoMQM use language-agnostic prompts to score quality and mark error spans.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67208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field is heading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6080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 2024 asked it directly: “Are LLMs closing the gap in QE?”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 2025 unified the Metrics and QE tasks, and benchmarked 13 general-purpose LLMs as judges.</a:t>
            </a:r>
            <a:endParaRPr lang="en-US" sz="1400" dirty="0"/>
          </a:p>
          <a:p>
            <a:pPr marL="228600" indent="-2286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16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shifting to document- and context-level QE, not just single sentences.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2880360"/>
            <a:ext cx="3913632" cy="2926080"/>
          </a:xfrm>
          <a:prstGeom prst="roundRect">
            <a:avLst>
              <a:gd name="adj" fmla="val 2500"/>
            </a:avLst>
          </a:prstGeom>
          <a:solidFill>
            <a:srgbClr val="0A2A33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3200400"/>
            <a:ext cx="713232" cy="7132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caveat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863840" y="43891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</a:t>
            </a:r>
            <a:r>
              <a:rPr lang="en-US" sz="1400" b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</a:t>
            </a: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(black-box), and </a:t>
            </a:r>
            <a:r>
              <a:rPr lang="en-US" sz="1400" b="1" dirty="0">
                <a:solidFill>
                  <a:srgbClr val="8A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</a:t>
            </a:r>
            <a:r>
              <a:rPr lang="en-US" sz="14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low-resource languages.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QE still falls short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05840" y="2423160"/>
            <a:ext cx="548640" cy="548640"/>
          </a:xfrm>
          <a:prstGeom prst="ellipse">
            <a:avLst/>
          </a:prstGeom>
          <a:solidFill>
            <a:srgbClr val="FBE5E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603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441448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3081528"/>
            <a:ext cx="4626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of 0.8 doesn’t mean the same thing across domains and language pairs.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90488" y="2057400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556248" y="2423160"/>
            <a:ext cx="548640" cy="548640"/>
          </a:xfrm>
          <a:prstGeom prst="ellipse">
            <a:avLst/>
          </a:prstGeom>
          <a:solidFill>
            <a:srgbClr val="FBE5E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56032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87768" y="2441448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Low-resource gap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56248" y="3081528"/>
            <a:ext cx="4626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languages with least data carry the highest risk and the weakest QE.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4087368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1005840" y="4453128"/>
            <a:ext cx="548640" cy="548640"/>
          </a:xfrm>
          <a:prstGeom prst="ellipse">
            <a:avLst/>
          </a:prstGeom>
          <a:solidFill>
            <a:srgbClr val="FBE5E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5902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471416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 blind spots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005840" y="5111496"/>
            <a:ext cx="4626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errors remain the hardest to flag reliably.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190488" y="4087368"/>
            <a:ext cx="53583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6556248" y="4453128"/>
            <a:ext cx="548640" cy="548640"/>
          </a:xfrm>
          <a:prstGeom prst="ellipse">
            <a:avLst/>
          </a:prstGeom>
          <a:solidFill>
            <a:srgbClr val="FBE5E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459028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87768" y="4471416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 &amp; trust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556248" y="5111496"/>
            <a:ext cx="4626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no reason behind it is hard for a professional to act on.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82880"/>
            <a:ext cx="512064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1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292608" cy="219456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686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in the loop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41605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does not replace the translator it repositions them.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71600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LABOUR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QE empowers the professional as it does not replace them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292840" y="475488"/>
            <a:ext cx="146304" cy="146304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539728" y="475488"/>
            <a:ext cx="146304" cy="146304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1786616" y="475488"/>
            <a:ext cx="146304" cy="146304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23444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25856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/ LLM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286000"/>
            <a:ext cx="420624" cy="42062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9204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0A2A33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2258568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0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 flags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errors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2286000"/>
            <a:ext cx="420624" cy="42062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54964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159A92"/>
          </a:solidFill>
          <a:ln/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248" y="2258568"/>
            <a:ext cx="512064" cy="5120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09760" y="1965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focuses</a:t>
            </a:r>
            <a:endParaRPr lang="en-US" sz="14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matters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40080" y="3429000"/>
            <a:ext cx="351129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2"/>
          <p:cNvSpPr/>
          <p:nvPr/>
        </p:nvSpPr>
        <p:spPr>
          <a:xfrm>
            <a:off x="1005840" y="3749040"/>
            <a:ext cx="640080" cy="64008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1288" y="390448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783080" y="37947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Oversight</a:t>
            </a:r>
            <a:endParaRPr lang="en-US" sz="1700" dirty="0"/>
          </a:p>
        </p:txBody>
      </p:sp>
      <p:sp>
        <p:nvSpPr>
          <p:cNvPr id="22" name="Text 14"/>
          <p:cNvSpPr/>
          <p:nvPr/>
        </p:nvSpPr>
        <p:spPr>
          <a:xfrm>
            <a:off x="1005840" y="448056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what QE marks as risky read with attention where it counts.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4334256" y="3429000"/>
            <a:ext cx="351129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6"/>
          <p:cNvSpPr/>
          <p:nvPr/>
        </p:nvSpPr>
        <p:spPr>
          <a:xfrm>
            <a:off x="4700016" y="3749040"/>
            <a:ext cx="640080" cy="64008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3904488"/>
            <a:ext cx="329184" cy="32918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77256" y="37947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management</a:t>
            </a:r>
            <a:endParaRPr lang="en-US" sz="1700" dirty="0"/>
          </a:p>
        </p:txBody>
      </p:sp>
      <p:sp>
        <p:nvSpPr>
          <p:cNvPr id="27" name="Text 18"/>
          <p:cNvSpPr/>
          <p:nvPr/>
        </p:nvSpPr>
        <p:spPr>
          <a:xfrm>
            <a:off x="4700016" y="448056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high-stakes content to human experts; let routine flow through.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8028432" y="3429000"/>
            <a:ext cx="3511296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BE7E9"/>
            </a:solidFill>
            <a:prstDash val="solid"/>
          </a:ln>
          <a:effectLst>
            <a:outerShdw blurRad="114300" dist="38100" dir="5400000" algn="bl" rotWithShape="0">
              <a:srgbClr val="0A2A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Shape 20"/>
          <p:cNvSpPr/>
          <p:nvPr/>
        </p:nvSpPr>
        <p:spPr>
          <a:xfrm>
            <a:off x="8394192" y="3749040"/>
            <a:ext cx="640080" cy="640080"/>
          </a:xfrm>
          <a:prstGeom prst="ellipse">
            <a:avLst/>
          </a:prstGeom>
          <a:solidFill>
            <a:srgbClr val="E4F3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9640" y="3904488"/>
            <a:ext cx="329184" cy="32918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171432" y="379476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Informed decisions</a:t>
            </a:r>
            <a:endParaRPr lang="en-US" sz="1700" dirty="0"/>
          </a:p>
        </p:txBody>
      </p:sp>
      <p:sp>
        <p:nvSpPr>
          <p:cNvPr id="32" name="Text 22"/>
          <p:cNvSpPr/>
          <p:nvPr/>
        </p:nvSpPr>
        <p:spPr>
          <a:xfrm>
            <a:off x="8394192" y="4480560"/>
            <a:ext cx="2779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E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post-edit, or reject backed by evidence, not gut feel.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15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generative AI spreads, these judgement skills become more valuable not less.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9A9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400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600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7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MT &amp; GENAI TRANSLATION LITERACY SHOULD MEAN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96112" y="2157984"/>
            <a:ext cx="182880" cy="182880"/>
          </a:xfrm>
          <a:prstGeom prst="ellipse">
            <a:avLst/>
          </a:prstGeom>
          <a:solidFill>
            <a:srgbClr val="3FA87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28016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what these systems can and cannot do.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96112" y="2724912"/>
            <a:ext cx="182880" cy="182880"/>
          </a:xfrm>
          <a:prstGeom prst="ellipse">
            <a:avLst/>
          </a:prstGeom>
          <a:solidFill>
            <a:srgbClr val="27C2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280160" y="26700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Remember that fluency is not reliability.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96112" y="3291840"/>
            <a:ext cx="182880" cy="182880"/>
          </a:xfrm>
          <a:prstGeom prst="ellipse">
            <a:avLst/>
          </a:prstGeom>
          <a:solidFill>
            <a:srgbClr val="E091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280160" y="323697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QE as an instrument.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96112" y="3858768"/>
            <a:ext cx="182880" cy="182880"/>
          </a:xfrm>
          <a:prstGeom prst="ellipse">
            <a:avLst/>
          </a:prstGeom>
          <a:solidFill>
            <a:srgbClr val="DB5A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280160" y="38039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judgement that machines cannot.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868680" y="4663440"/>
            <a:ext cx="109728" cy="960120"/>
          </a:xfrm>
          <a:prstGeom prst="rect">
            <a:avLst/>
          </a:prstGeom>
          <a:solidFill>
            <a:srgbClr val="27C2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143000" y="4617720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i="1" dirty="0">
                <a:solidFill>
                  <a:srgbClr val="8AE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the profession is not translation without humans it is translation with better instruments, and humans who know how to read them.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68680" y="5989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 </a:t>
            </a:r>
            <a:r>
              <a:rPr lang="en-US" sz="1500" dirty="0">
                <a:solidFill>
                  <a:srgbClr val="CD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Tharindu Ranasinghe · Lancaster University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2453</Words>
  <Application>Microsoft Office PowerPoint</Application>
  <PresentationFormat>Custom</PresentationFormat>
  <Paragraphs>404</Paragraphs>
  <Slides>39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Quality Estimation in the Era of LLMs</dc:title>
  <dc:subject>PptxGenJS Presentation</dc:subject>
  <dc:creator>Tharindu Ranasinghe</dc:creator>
  <cp:lastModifiedBy>Ranasinghe, Tharindu</cp:lastModifiedBy>
  <cp:revision>3</cp:revision>
  <dcterms:created xsi:type="dcterms:W3CDTF">2026-06-01T08:50:15Z</dcterms:created>
  <dcterms:modified xsi:type="dcterms:W3CDTF">2026-06-01T20:06:10Z</dcterms:modified>
</cp:coreProperties>
</file>